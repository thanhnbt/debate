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9" r:id="rId4"/>
    <p:sldId id="260" r:id="rId5"/>
    <p:sldId id="281" r:id="rId6"/>
    <p:sldId id="282" r:id="rId7"/>
    <p:sldId id="283" r:id="rId8"/>
    <p:sldId id="284" r:id="rId9"/>
    <p:sldId id="28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85" r:id="rId22"/>
    <p:sldId id="272" r:id="rId23"/>
    <p:sldId id="273" r:id="rId24"/>
    <p:sldId id="288" r:id="rId25"/>
    <p:sldId id="287" r:id="rId26"/>
    <p:sldId id="286" r:id="rId27"/>
    <p:sldId id="274" r:id="rId28"/>
    <p:sldId id="289" r:id="rId29"/>
    <p:sldId id="275" r:id="rId30"/>
    <p:sldId id="276" r:id="rId31"/>
    <p:sldId id="277" r:id="rId32"/>
    <p:sldId id="278" r:id="rId33"/>
    <p:sldId id="290" r:id="rId34"/>
    <p:sldId id="279" r:id="rId35"/>
  </p:sldIdLst>
  <p:sldSz cx="9144000" cy="5143500" type="screen16x9"/>
  <p:notesSz cx="6858000" cy="9144000"/>
  <p:embeddedFontLst>
    <p:embeddedFont>
      <p:font typeface="Montserrat" pitchFamily="2" charset="77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jQ5OIxTUFE7F2HOn8z3heL7ZV+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292"/>
    <p:restoredTop sz="94715"/>
  </p:normalViewPr>
  <p:slideViewPr>
    <p:cSldViewPr snapToGrid="0">
      <p:cViewPr varScale="1">
        <p:scale>
          <a:sx n="186" d="100"/>
          <a:sy n="186" d="100"/>
        </p:scale>
        <p:origin x="149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b02a542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5b02a542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8009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777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953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078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5461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 sz="1800"/>
              <a:t>3 speakers in a team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 sz="1800"/>
              <a:t>3-5 members in a team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 sz="1800"/>
              <a:t>30 - 1 hours of preparation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 sz="1800"/>
              <a:t>2 sides: Affirmative &amp; Negative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106653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 sz="1800"/>
              <a:t>3 speakers in a team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 sz="1800"/>
              <a:t>3-5 members in a team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 sz="1800"/>
              <a:t>30 - 1 hours of preparation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 sz="1800"/>
              <a:t>2 sides: Affirmative &amp; Negative</a:t>
            </a:r>
            <a:endParaRPr sz="18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13493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8095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1921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0287e6a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250287e6a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0287e6a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250287e6a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7958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016dbb35f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2016dbb35f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016dbb35f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2016dbb35f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"/>
              <a:t>wat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016dbb35fd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2016dbb35fd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016dbb35fd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2016dbb35fd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0287e6a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250287e6a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014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5b02a542b3_0_0"/>
          <p:cNvSpPr txBox="1"/>
          <p:nvPr/>
        </p:nvSpPr>
        <p:spPr>
          <a:xfrm>
            <a:off x="343675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Teacher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g25b02a542b3_0_0"/>
          <p:cNvSpPr/>
          <p:nvPr/>
        </p:nvSpPr>
        <p:spPr>
          <a:xfrm>
            <a:off x="411301" y="1543725"/>
            <a:ext cx="3624600" cy="23199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25b02a542b3_0_0"/>
          <p:cNvSpPr txBox="1"/>
          <p:nvPr/>
        </p:nvSpPr>
        <p:spPr>
          <a:xfrm>
            <a:off x="561651" y="1603673"/>
            <a:ext cx="3584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Facebook: Gia Long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Phone number: 0936362164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Gmail: gialong0308@gmail.com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Contact me if you have any questions or problems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g25b02a542b3_0_0"/>
          <p:cNvSpPr txBox="1"/>
          <p:nvPr/>
        </p:nvSpPr>
        <p:spPr>
          <a:xfrm>
            <a:off x="4572000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Teaching Assistant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g25b02a542b3_0_0"/>
          <p:cNvSpPr/>
          <p:nvPr/>
        </p:nvSpPr>
        <p:spPr>
          <a:xfrm>
            <a:off x="4639626" y="1543725"/>
            <a:ext cx="3624600" cy="23199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25b02a542b3_0_0"/>
          <p:cNvSpPr txBox="1"/>
          <p:nvPr/>
        </p:nvSpPr>
        <p:spPr>
          <a:xfrm>
            <a:off x="4789976" y="1603673"/>
            <a:ext cx="35841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Facebook: Hương Thảo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Phone number: 0383111106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Gmail: huongthaongo1009@gmail.com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Contact me if you have any questions or problems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/>
        </p:nvSpPr>
        <p:spPr>
          <a:xfrm>
            <a:off x="188737" y="976933"/>
            <a:ext cx="87666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vi" sz="38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Week 1: Introduction to Debate &amp;</a:t>
            </a:r>
            <a:endParaRPr sz="1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vi" sz="38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World School Debate Format </a:t>
            </a:r>
            <a:endParaRPr sz="38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188737" y="2488039"/>
            <a:ext cx="483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Coach: 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4037075" y="4231425"/>
            <a:ext cx="483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/>
        </p:nvSpPr>
        <p:spPr>
          <a:xfrm>
            <a:off x="343675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Today’s content 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11300" y="1543725"/>
            <a:ext cx="4718100" cy="29730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497073" y="2106910"/>
            <a:ext cx="4561003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 overview.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Ice-breaking game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Some main crucial skills that you will practice mostly in this class including: Critical thinking, Public speaking and Team work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World School Debate format &amp; speaker role 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/>
        </p:nvSpPr>
        <p:spPr>
          <a:xfrm>
            <a:off x="335208" y="692197"/>
            <a:ext cx="524432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ICE- BREAKING GAME: FIND THE DIFFERENT WORDS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667107" y="2383909"/>
            <a:ext cx="35841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VN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FIND THE DIFFERENT WORD</a:t>
            </a: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have to choose 1 character for yourself, any thing or anyone you like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to explain your decision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9C067-AF6E-EE17-4A53-57478CA265E1}"/>
              </a:ext>
            </a:extLst>
          </p:cNvPr>
          <p:cNvSpPr txBox="1"/>
          <p:nvPr/>
        </p:nvSpPr>
        <p:spPr>
          <a:xfrm>
            <a:off x="2286000" y="1773647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A0707"/>
                </a:solidFill>
                <a:effectLst/>
                <a:latin typeface="Lexend"/>
              </a:rPr>
              <a:t>Blue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0A0707"/>
                </a:solidFill>
                <a:effectLst/>
                <a:latin typeface="Lexend"/>
              </a:rPr>
              <a:t>Pink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0A0707"/>
                </a:solidFill>
                <a:effectLst/>
                <a:latin typeface="Lexend"/>
              </a:rPr>
              <a:t>Red</a:t>
            </a:r>
            <a:endParaRPr lang="en-US" sz="2000" b="0" dirty="0">
              <a:effectLst/>
            </a:endParaRPr>
          </a:p>
          <a:p>
            <a:br>
              <a:rPr lang="en-US" dirty="0"/>
            </a:br>
            <a:endParaRPr lang="en-V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/>
        </p:nvSpPr>
        <p:spPr>
          <a:xfrm>
            <a:off x="335207" y="692197"/>
            <a:ext cx="524432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ICE- BREAKING GAME: FIND THE DIFFERENT WORDS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667107" y="2383909"/>
            <a:ext cx="35841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VN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FIND THE DIFFERENT WORD</a:t>
            </a: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have to choose 1 character for yourself, any thing or anyone you like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to explain your decision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9C067-AF6E-EE17-4A53-57478CA265E1}"/>
              </a:ext>
            </a:extLst>
          </p:cNvPr>
          <p:cNvSpPr txBox="1"/>
          <p:nvPr/>
        </p:nvSpPr>
        <p:spPr>
          <a:xfrm>
            <a:off x="2286000" y="1773647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He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dirty="0">
                <a:solidFill>
                  <a:srgbClr val="0A0707"/>
                </a:solidFill>
                <a:latin typeface="Lexend"/>
              </a:rPr>
              <a:t>She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dirty="0">
                <a:solidFill>
                  <a:srgbClr val="0A0707"/>
                </a:solidFill>
                <a:latin typeface="Lexend"/>
              </a:rPr>
              <a:t>They</a:t>
            </a:r>
            <a:endParaRPr lang="en-US" sz="2000" b="0" dirty="0">
              <a:effectLst/>
            </a:endParaRPr>
          </a:p>
          <a:p>
            <a:br>
              <a:rPr lang="en-US" dirty="0"/>
            </a:b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94606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/>
        </p:nvSpPr>
        <p:spPr>
          <a:xfrm>
            <a:off x="335207" y="692197"/>
            <a:ext cx="524432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ICE- BREAKING GAME: FIND THE DIFFERENT WORDS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667107" y="2383909"/>
            <a:ext cx="35841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VN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FIND THE DIFFERENT WORD</a:t>
            </a: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have to choose 1 character for yourself, any thing or anyone you like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to explain your decision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9C067-AF6E-EE17-4A53-57478CA265E1}"/>
              </a:ext>
            </a:extLst>
          </p:cNvPr>
          <p:cNvSpPr txBox="1"/>
          <p:nvPr/>
        </p:nvSpPr>
        <p:spPr>
          <a:xfrm>
            <a:off x="2286000" y="1773647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Độc</a:t>
            </a: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 </a:t>
            </a: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hại</a:t>
            </a: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 (Toxic)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dirty="0" err="1">
                <a:solidFill>
                  <a:srgbClr val="0A0707"/>
                </a:solidFill>
                <a:latin typeface="Lexend"/>
              </a:rPr>
              <a:t>Biến</a:t>
            </a:r>
            <a:r>
              <a:rPr lang="en-US" sz="2000" dirty="0">
                <a:solidFill>
                  <a:srgbClr val="0A0707"/>
                </a:solidFill>
                <a:latin typeface="Lexend"/>
              </a:rPr>
              <a:t> </a:t>
            </a:r>
            <a:r>
              <a:rPr lang="en-US" sz="2000" dirty="0" err="1">
                <a:solidFill>
                  <a:srgbClr val="0A0707"/>
                </a:solidFill>
                <a:latin typeface="Lexend"/>
              </a:rPr>
              <a:t>đổi</a:t>
            </a:r>
            <a:r>
              <a:rPr lang="en-US" sz="2000" dirty="0">
                <a:solidFill>
                  <a:srgbClr val="0A0707"/>
                </a:solidFill>
                <a:latin typeface="Lexend"/>
              </a:rPr>
              <a:t> </a:t>
            </a:r>
            <a:r>
              <a:rPr lang="en-US" sz="2000" dirty="0" err="1">
                <a:solidFill>
                  <a:srgbClr val="0A0707"/>
                </a:solidFill>
                <a:latin typeface="Lexend"/>
              </a:rPr>
              <a:t>khí</a:t>
            </a:r>
            <a:r>
              <a:rPr lang="en-US" sz="2000" dirty="0">
                <a:solidFill>
                  <a:srgbClr val="0A0707"/>
                </a:solidFill>
                <a:latin typeface="Lexend"/>
              </a:rPr>
              <a:t> </a:t>
            </a:r>
            <a:r>
              <a:rPr lang="en-US" sz="2000" dirty="0" err="1">
                <a:solidFill>
                  <a:srgbClr val="0A0707"/>
                </a:solidFill>
                <a:latin typeface="Lexend"/>
              </a:rPr>
              <a:t>hậu</a:t>
            </a:r>
            <a:r>
              <a:rPr lang="en-US" sz="2000" dirty="0">
                <a:solidFill>
                  <a:srgbClr val="0A0707"/>
                </a:solidFill>
                <a:latin typeface="Lexend"/>
              </a:rPr>
              <a:t> (Climate change)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Nền</a:t>
            </a: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 </a:t>
            </a: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kinh</a:t>
            </a: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 </a:t>
            </a: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tế</a:t>
            </a: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 (Economy)</a:t>
            </a:r>
            <a:endParaRPr lang="en-US" sz="2000" b="0" dirty="0">
              <a:effectLst/>
            </a:endParaRPr>
          </a:p>
          <a:p>
            <a:br>
              <a:rPr lang="en-US" dirty="0"/>
            </a:b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50093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/>
        </p:nvSpPr>
        <p:spPr>
          <a:xfrm>
            <a:off x="335207" y="692197"/>
            <a:ext cx="524432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ICE- BREAKING GAME: FIND THE DIFFERENT WORDS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667107" y="2383909"/>
            <a:ext cx="35841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VN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FIND THE DIFFERENT WORD</a:t>
            </a: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have to choose 1 character for yourself, any thing or anyone you like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to explain your decision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9C067-AF6E-EE17-4A53-57478CA265E1}"/>
              </a:ext>
            </a:extLst>
          </p:cNvPr>
          <p:cNvSpPr txBox="1"/>
          <p:nvPr/>
        </p:nvSpPr>
        <p:spPr>
          <a:xfrm>
            <a:off x="2286000" y="1773647"/>
            <a:ext cx="45720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Ba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dirty="0" err="1">
                <a:solidFill>
                  <a:srgbClr val="0A0707"/>
                </a:solidFill>
                <a:latin typeface="Lexend"/>
              </a:rPr>
              <a:t>Mẹ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Chị</a:t>
            </a: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 </a:t>
            </a: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gái</a:t>
            </a:r>
            <a:br>
              <a:rPr lang="en-US" dirty="0"/>
            </a:b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317505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/>
        </p:nvSpPr>
        <p:spPr>
          <a:xfrm>
            <a:off x="335207" y="692197"/>
            <a:ext cx="524432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ICE- BREAKING GAME: FIND THE DIFFERENT WORDS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667107" y="2383909"/>
            <a:ext cx="35841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VN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FIND THE DIFFERENT WORD</a:t>
            </a: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have to choose 1 character for yourself, any thing or anyone you like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to explain your decision</a:t>
            </a:r>
            <a:endParaRPr sz="12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9C067-AF6E-EE17-4A53-57478CA265E1}"/>
              </a:ext>
            </a:extLst>
          </p:cNvPr>
          <p:cNvSpPr txBox="1"/>
          <p:nvPr/>
        </p:nvSpPr>
        <p:spPr>
          <a:xfrm>
            <a:off x="2286000" y="1773647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solidFill>
                  <a:srgbClr val="0A0707"/>
                </a:solidFill>
                <a:latin typeface="Lexend"/>
              </a:rPr>
              <a:t>Người</a:t>
            </a:r>
            <a:r>
              <a:rPr lang="en-US" sz="2000" dirty="0">
                <a:solidFill>
                  <a:srgbClr val="0A0707"/>
                </a:solidFill>
                <a:latin typeface="Lexend"/>
              </a:rPr>
              <a:t> </a:t>
            </a:r>
            <a:r>
              <a:rPr lang="en-US" sz="2000" dirty="0" err="1">
                <a:solidFill>
                  <a:srgbClr val="0A0707"/>
                </a:solidFill>
                <a:latin typeface="Lexend"/>
              </a:rPr>
              <a:t>giàu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Người</a:t>
            </a: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 </a:t>
            </a:r>
            <a:r>
              <a:rPr lang="en-US" sz="2000" b="0" dirty="0" err="1">
                <a:solidFill>
                  <a:srgbClr val="0A0707"/>
                </a:solidFill>
                <a:effectLst/>
                <a:latin typeface="Lexend"/>
              </a:rPr>
              <a:t>nghèo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dirty="0" err="1">
                <a:solidFill>
                  <a:srgbClr val="0A0707"/>
                </a:solidFill>
                <a:latin typeface="Lexend"/>
              </a:rPr>
              <a:t>Người</a:t>
            </a:r>
            <a:r>
              <a:rPr lang="en-US" sz="2000" dirty="0">
                <a:solidFill>
                  <a:srgbClr val="0A0707"/>
                </a:solidFill>
                <a:latin typeface="Lexend"/>
              </a:rPr>
              <a:t> </a:t>
            </a:r>
            <a:r>
              <a:rPr lang="en-US" sz="2000" dirty="0" err="1">
                <a:solidFill>
                  <a:srgbClr val="0A0707"/>
                </a:solidFill>
                <a:latin typeface="Lexend"/>
              </a:rPr>
              <a:t>trung</a:t>
            </a:r>
            <a:r>
              <a:rPr lang="en-US" sz="2000" dirty="0">
                <a:solidFill>
                  <a:srgbClr val="0A0707"/>
                </a:solidFill>
                <a:latin typeface="Lexend"/>
              </a:rPr>
              <a:t> </a:t>
            </a:r>
            <a:r>
              <a:rPr lang="en-US" sz="2000" dirty="0" err="1">
                <a:solidFill>
                  <a:srgbClr val="0A0707"/>
                </a:solidFill>
                <a:latin typeface="Lexend"/>
              </a:rPr>
              <a:t>lưu</a:t>
            </a:r>
            <a:br>
              <a:rPr lang="en-US" dirty="0"/>
            </a:b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113971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/>
        </p:nvSpPr>
        <p:spPr>
          <a:xfrm>
            <a:off x="343675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ICE- BREAKING GAME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11300" y="1543725"/>
            <a:ext cx="4095715" cy="2973000"/>
          </a:xfrm>
          <a:prstGeom prst="roundRect">
            <a:avLst>
              <a:gd name="adj" fmla="val 8456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667107" y="2383909"/>
            <a:ext cx="35841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GAME RULES – AN AEROSTAT</a:t>
            </a: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You have to choose 1 character for yourself, any thing or anyone you like</a:t>
            </a: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to explain your decision</a:t>
            </a: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7" descr="Ảnh có chứa máy bay, cây hoa bong bóng, vận tải, bầu trời&#10;&#10;Mô tả được tạo tự độ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6985" y="1543725"/>
            <a:ext cx="4095715" cy="297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6008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/>
        </p:nvSpPr>
        <p:spPr>
          <a:xfrm>
            <a:off x="343675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Why are we playing this game?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2183599" y="1953275"/>
            <a:ext cx="4733667" cy="1871400"/>
          </a:xfrm>
          <a:prstGeom prst="roundRect">
            <a:avLst>
              <a:gd name="adj" fmla="val 8456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"/>
          <p:cNvSpPr txBox="1"/>
          <p:nvPr/>
        </p:nvSpPr>
        <p:spPr>
          <a:xfrm>
            <a:off x="2456200" y="2242659"/>
            <a:ext cx="42316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9999" marR="0" lvl="0" indent="-1799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Debate is not about “Right” or “Wrong”, it’s about explaining and finding  the best solution.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marR="0" lvl="0" indent="-1799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Always ask why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9999" marR="0" lvl="0" indent="-17999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Everyone </a:t>
            </a:r>
            <a:r>
              <a:rPr lang="vi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is </a:t>
            </a: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the debate matters.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/>
        </p:nvSpPr>
        <p:spPr>
          <a:xfrm>
            <a:off x="3595950" y="2202300"/>
            <a:ext cx="1952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3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SKIL</a:t>
            </a:r>
            <a:r>
              <a:rPr lang="vi" sz="3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vi" sz="3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 sz="36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/>
        </p:nvSpPr>
        <p:spPr>
          <a:xfrm>
            <a:off x="2372796" y="2202433"/>
            <a:ext cx="439840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3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Public Speaking</a:t>
            </a:r>
            <a:endParaRPr sz="36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/>
        </p:nvSpPr>
        <p:spPr>
          <a:xfrm>
            <a:off x="343675" y="808173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What is  public speaking? Why do we need it?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866050" y="1509858"/>
            <a:ext cx="7411900" cy="29730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1446016" y="2211543"/>
            <a:ext cx="6251968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286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Char char="•"/>
            </a:pP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Basically, it's a presentation that's given live before an audience. Public speeches can cover </a:t>
            </a: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wide variety of different topics</a:t>
            </a: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The goal of the speech may be to </a:t>
            </a: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educate, entertain, or influence</a:t>
            </a: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listeners.</a:t>
            </a:r>
            <a:endParaRPr lang="vi" dirty="0">
              <a:ea typeface="Montserrat"/>
            </a:endParaRPr>
          </a:p>
          <a:p>
            <a:pPr marL="6286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200"/>
              <a:buFont typeface="Arial" panose="020B0604020202020204" pitchFamily="34" charset="0"/>
              <a:buChar char="•"/>
            </a:pPr>
            <a:r>
              <a:rPr lang="vi" sz="12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Public speaking is important in both business, education, and the public arena. </a:t>
            </a:r>
            <a:endParaRPr sz="105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/>
        </p:nvSpPr>
        <p:spPr>
          <a:xfrm>
            <a:off x="3151639" y="2202300"/>
            <a:ext cx="2840722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3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r>
              <a:rPr lang="vi" sz="3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vi" sz="3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ork</a:t>
            </a:r>
            <a:endParaRPr sz="36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343675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What is  teamwork? Why do we need it?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904150" y="1526792"/>
            <a:ext cx="7335700" cy="29730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601785" y="2366976"/>
            <a:ext cx="7568452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REMEMBER: YOU CAN NEVER GO ALONE IN DEBATE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Teamwork</a:t>
            </a:r>
            <a:r>
              <a:rPr lang="vi"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 is the </a:t>
            </a:r>
            <a:r>
              <a:rPr lang="vi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collaborative effort </a:t>
            </a:r>
            <a:r>
              <a:rPr lang="vi"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of a group to achieve a </a:t>
            </a:r>
            <a:r>
              <a:rPr lang="vi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common goal </a:t>
            </a:r>
            <a:r>
              <a:rPr lang="vi"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 to complete a task in the most effective and efficient way.</a:t>
            </a:r>
            <a:endParaRPr sz="9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2383350" y="2202300"/>
            <a:ext cx="4377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3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Critical thinking</a:t>
            </a:r>
            <a:endParaRPr sz="36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/>
        </p:nvSpPr>
        <p:spPr>
          <a:xfrm>
            <a:off x="343675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What is critical thinking? Why do we need it?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633216" y="1577592"/>
            <a:ext cx="7877567" cy="29730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06650" y="2248359"/>
            <a:ext cx="7208372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Critical thinking is the </a:t>
            </a: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analysis of facts to form a judgment</a:t>
            </a: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The subject is complex, and several different definitions exist, which generally include the </a:t>
            </a: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rational, skeptical, unbiased analysis</a:t>
            </a: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or evaluation </a:t>
            </a: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 factual evidence. Critical thinking is </a:t>
            </a: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self-directed, self-disciplined, self-monitored, and self-corrective thinking.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/>
        </p:nvSpPr>
        <p:spPr>
          <a:xfrm>
            <a:off x="413140" y="1002850"/>
            <a:ext cx="591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Assumption about critical thinking</a:t>
            </a:r>
            <a:endParaRPr sz="1400" b="1" i="0" u="none" strike="noStrike" cap="none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86625" y="1805275"/>
            <a:ext cx="2372400" cy="14013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248721" y="2012342"/>
            <a:ext cx="230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have to win all the time by joining a fight 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385800" y="1805275"/>
            <a:ext cx="2372400" cy="14013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451000" y="1805275"/>
            <a:ext cx="2372400" cy="14013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156175" y="2289392"/>
            <a:ext cx="230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are always right 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284975" y="2150792"/>
            <a:ext cx="2308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Dont trust anything or anyone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849375" y="3443700"/>
            <a:ext cx="2372400" cy="14013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724275" y="3682650"/>
            <a:ext cx="230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can be a critical thinker in few months</a:t>
            </a:r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4985975" y="3443700"/>
            <a:ext cx="2372400" cy="14013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4848750" y="3707675"/>
            <a:ext cx="230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have to rebut everyone to show your critical thinking</a:t>
            </a:r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343675" y="1002850"/>
            <a:ext cx="591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to practise your critical thinking?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77825" y="1805275"/>
            <a:ext cx="2372400" cy="17298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205117" y="2300856"/>
            <a:ext cx="23088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 skeptical  and Ask “Why” first. 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385800" y="1805275"/>
            <a:ext cx="2372400" cy="17298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293775" y="1805275"/>
            <a:ext cx="2372400" cy="17298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3217900" y="2023859"/>
            <a:ext cx="23088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Read book, articles or discuss with everyone about a topic. BE SELECTIVE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6154750" y="2300857"/>
            <a:ext cx="23088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Transform it into your knowledge.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953442" y="2202433"/>
            <a:ext cx="723711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3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World School Debate Format</a:t>
            </a:r>
            <a:endParaRPr sz="36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6F66A6-E1E3-98DF-94A2-1E7B858AC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52" y="744025"/>
            <a:ext cx="8716296" cy="365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795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165875" y="968983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World School Debate Format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233500" y="1811866"/>
            <a:ext cx="3685328" cy="2670992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379840" y="1804702"/>
            <a:ext cx="3392648" cy="268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 vs 3 (in a round)</a:t>
            </a:r>
            <a:endParaRPr sz="1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team comprises of </a:t>
            </a:r>
            <a:r>
              <a:rPr lang="vi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3-5</a:t>
            </a:r>
            <a:r>
              <a:rPr lang="vi" sz="1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people who prepare together</a:t>
            </a:r>
            <a:endParaRPr sz="1000" b="1" i="0" u="none" strike="noStrike" cap="none" dirty="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Each team is allocated to either “proposition” or “opposition” on a motion</a:t>
            </a:r>
            <a:endParaRPr sz="1000" b="1" i="0" u="none" strike="noStrike" cap="none" dirty="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Each main speech last for 8 minutes. </a:t>
            </a:r>
            <a:endParaRPr sz="1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Reply speech is 4 minutes.</a:t>
            </a:r>
            <a:endParaRPr sz="1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Third speakers are not allowed to do reply speech.</a:t>
            </a:r>
            <a:endParaRPr sz="1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vi" sz="1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Allowed to give Point of Information (POIs) in the main speech.</a:t>
            </a:r>
            <a:endParaRPr sz="1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A20EA1-E544-E3D6-F5E5-52D9E1EA5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293" y="895050"/>
            <a:ext cx="4976754" cy="3740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343675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Judging criteria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1299" y="1543724"/>
            <a:ext cx="8263778" cy="3085305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81161" y="2017022"/>
            <a:ext cx="7924054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en-VN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Content (40%) =&gt; WHAT you say in the debate</a:t>
            </a:r>
          </a:p>
          <a:p>
            <a:pPr marL="457200" indent="-304800" algn="just">
              <a:lnSpc>
                <a:spcPct val="150000"/>
              </a:lnSpc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en-VN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Style (40%) =&gt; HOW you say something in the debate 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(Note: </a:t>
            </a:r>
            <a:r>
              <a:rPr lang="en-US" b="1" i="0" u="sng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accent, use of cue cards, immutable characteristics e.g. pitch, tone; about word choice, pace, volume, speed, etc.)</a:t>
            </a:r>
            <a:r>
              <a:rPr lang="en-VN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en-VN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Strategy (20%)</a:t>
            </a:r>
            <a:r>
              <a:rPr lang="en-VN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Wingdings" pitchFamily="2" charset="2"/>
              </a:rPr>
              <a:t> =&gt; WHY you say something in the debate (</a:t>
            </a:r>
            <a:r>
              <a:rPr lang="en-US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e.g. motion interpretation, time allocation, consistency, POIs, dealing with the issues in the debate, etc.)</a:t>
            </a:r>
            <a:endParaRPr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64275" y="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Judging criteria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F22491-1383-227F-75B9-72B367140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164" y="349403"/>
            <a:ext cx="6169672" cy="470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984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B6C16A-D4B4-D6F9-AFDA-62BFB371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20" y="151550"/>
            <a:ext cx="7178559" cy="48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68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/>
        </p:nvSpPr>
        <p:spPr>
          <a:xfrm>
            <a:off x="343675" y="1002850"/>
            <a:ext cx="48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Other Debate format</a:t>
            </a:r>
            <a:endParaRPr sz="14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1300" y="1543725"/>
            <a:ext cx="4718100" cy="15477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68750" y="1858025"/>
            <a:ext cx="43434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Asian Parliamentary (content)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British Parliamentary (strategy)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rabicPeriod"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World Scholar’s Cup (style)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399100" y="3570525"/>
            <a:ext cx="825000" cy="40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947400" y="3394450"/>
            <a:ext cx="4718100" cy="6978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134750" y="3492353"/>
            <a:ext cx="4343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World School is the best option for you.</a:t>
            </a:r>
            <a:endParaRPr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6895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0287e6ad6_2_0"/>
          <p:cNvSpPr txBox="1"/>
          <p:nvPr/>
        </p:nvSpPr>
        <p:spPr>
          <a:xfrm>
            <a:off x="2718750" y="2202300"/>
            <a:ext cx="3706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3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Speaker’s Role</a:t>
            </a:r>
            <a:endParaRPr sz="36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0287e6ad6_2_0"/>
          <p:cNvSpPr txBox="1"/>
          <p:nvPr/>
        </p:nvSpPr>
        <p:spPr>
          <a:xfrm>
            <a:off x="170283" y="119500"/>
            <a:ext cx="3706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Speaker’s Role</a:t>
            </a:r>
            <a:endParaRPr sz="20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C928B1-E512-AFF3-3848-36FEF6D60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1912"/>
            <a:ext cx="7772400" cy="436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87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016dbb35fd_0_4"/>
          <p:cNvSpPr txBox="1"/>
          <p:nvPr/>
        </p:nvSpPr>
        <p:spPr>
          <a:xfrm>
            <a:off x="406428" y="751739"/>
            <a:ext cx="3925817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First speaker of Proposition</a:t>
            </a:r>
            <a:endParaRPr sz="20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2016dbb35fd_0_4"/>
          <p:cNvSpPr/>
          <p:nvPr/>
        </p:nvSpPr>
        <p:spPr>
          <a:xfrm>
            <a:off x="474054" y="1310642"/>
            <a:ext cx="3624600" cy="2947593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2016dbb35fd_0_4"/>
          <p:cNvSpPr txBox="1"/>
          <p:nvPr/>
        </p:nvSpPr>
        <p:spPr>
          <a:xfrm>
            <a:off x="496078" y="1445625"/>
            <a:ext cx="35841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524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</a:pPr>
            <a:r>
              <a:rPr lang="vi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Context:</a:t>
            </a:r>
            <a:endParaRPr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LcPeriod"/>
            </a:pPr>
            <a:r>
              <a:rPr lang="vi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Identify the problem: Why do we have this motion?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LcPeriod"/>
            </a:pPr>
            <a:r>
              <a:rPr lang="vi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Prove the problem by pointing out the consequences.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</a:pPr>
            <a:r>
              <a:rPr lang="vi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2. Definition</a:t>
            </a:r>
            <a:endParaRPr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</a:pPr>
            <a:r>
              <a:rPr lang="vi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Goals/Metrics: </a:t>
            </a:r>
            <a:r>
              <a:rPr lang="vi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Must be closely linked to the problem mentioned.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</a:pPr>
            <a:r>
              <a:rPr lang="vi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4. Argument:</a:t>
            </a:r>
            <a:r>
              <a:rPr lang="vi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At least ONE argument.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g2016dbb35fd_0_4"/>
          <p:cNvSpPr txBox="1"/>
          <p:nvPr/>
        </p:nvSpPr>
        <p:spPr>
          <a:xfrm>
            <a:off x="4634753" y="751739"/>
            <a:ext cx="4413426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First speaker of Opposition</a:t>
            </a:r>
            <a:endParaRPr sz="20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g2016dbb35fd_0_4"/>
          <p:cNvSpPr/>
          <p:nvPr/>
        </p:nvSpPr>
        <p:spPr>
          <a:xfrm>
            <a:off x="4702379" y="1310643"/>
            <a:ext cx="3624600" cy="2947592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</a:pPr>
            <a:r>
              <a:rPr lang="vi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 Response to the case set-up:</a:t>
            </a:r>
            <a:endParaRPr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LcPeriod"/>
            </a:pPr>
            <a:r>
              <a:rPr lang="vi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Agree with the given context -&gt; Prove that Prop cannot solve these problems.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AutoNum type="alphaLcPeriod"/>
            </a:pPr>
            <a:r>
              <a:rPr lang="vi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Disagree with the given context -&gt; Point out new problems.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</a:pPr>
            <a:r>
              <a:rPr lang="vi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2. Rebut against Prop’s argument(s)</a:t>
            </a:r>
            <a:endParaRPr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</a:pPr>
            <a:r>
              <a:rPr lang="vi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 Argument: </a:t>
            </a:r>
            <a:r>
              <a:rPr lang="vi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 least ONE argument.</a:t>
            </a:r>
            <a:endParaRPr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g2016dbb35fd_0_4"/>
          <p:cNvSpPr txBox="1"/>
          <p:nvPr/>
        </p:nvSpPr>
        <p:spPr>
          <a:xfrm>
            <a:off x="4852729" y="1370591"/>
            <a:ext cx="358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16dbb35fd_1_0"/>
          <p:cNvSpPr txBox="1"/>
          <p:nvPr/>
        </p:nvSpPr>
        <p:spPr>
          <a:xfrm>
            <a:off x="411300" y="982775"/>
            <a:ext cx="28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Second speaker</a:t>
            </a:r>
            <a:endParaRPr sz="20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g2016dbb35fd_1_0"/>
          <p:cNvSpPr/>
          <p:nvPr/>
        </p:nvSpPr>
        <p:spPr>
          <a:xfrm>
            <a:off x="411300" y="1543725"/>
            <a:ext cx="5202100" cy="29730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2016dbb35fd_1_0"/>
          <p:cNvSpPr txBox="1"/>
          <p:nvPr/>
        </p:nvSpPr>
        <p:spPr>
          <a:xfrm>
            <a:off x="520209" y="1968411"/>
            <a:ext cx="4984282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Rebuttal:</a:t>
            </a:r>
            <a:endParaRPr sz="1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AutoNum type="alphaLcPeriod"/>
            </a:pPr>
            <a:r>
              <a:rPr lang="vi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Attacking rebuttal: Rebut to opponent team’s case.</a:t>
            </a: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AutoNum type="alphaLcPeriod"/>
            </a:pPr>
            <a:r>
              <a:rPr lang="vi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Defensive rebuttal: Rebut to opponent’s rebuttals.</a:t>
            </a: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Extension:</a:t>
            </a:r>
            <a:endParaRPr sz="1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Extend and/or improve your first speaker’s argument (s).</a:t>
            </a: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Argument:</a:t>
            </a:r>
            <a:endParaRPr sz="1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Introduce all arguments left in your team’s case.</a:t>
            </a: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016dbb35fd_1_6"/>
          <p:cNvSpPr txBox="1"/>
          <p:nvPr/>
        </p:nvSpPr>
        <p:spPr>
          <a:xfrm>
            <a:off x="411300" y="982775"/>
            <a:ext cx="28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Third speaker</a:t>
            </a:r>
            <a:endParaRPr sz="20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g2016dbb35fd_1_6"/>
          <p:cNvSpPr/>
          <p:nvPr/>
        </p:nvSpPr>
        <p:spPr>
          <a:xfrm>
            <a:off x="411299" y="1543725"/>
            <a:ext cx="8732701" cy="29730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2016dbb35fd_1_6"/>
          <p:cNvSpPr txBox="1"/>
          <p:nvPr/>
        </p:nvSpPr>
        <p:spPr>
          <a:xfrm>
            <a:off x="493650" y="1737225"/>
            <a:ext cx="842786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Rebuttal:</a:t>
            </a:r>
          </a:p>
          <a:p>
            <a:pPr marL="1714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lang="vi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is the MOST IMPORTANT part in a third speaker’s speech.</a:t>
            </a: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Defense/Extension:</a:t>
            </a:r>
            <a:endParaRPr sz="1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Extend and/or defend your team’s arguments.</a:t>
            </a: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Summarise and Compare:</a:t>
            </a:r>
            <a:endParaRPr sz="1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Summaries and compare between 2 teams’ cases to point out why your team should win the debate.</a:t>
            </a:r>
            <a:endParaRPr sz="1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40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Conclude</a:t>
            </a: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016dbb35fd_1_12"/>
          <p:cNvSpPr txBox="1"/>
          <p:nvPr/>
        </p:nvSpPr>
        <p:spPr>
          <a:xfrm>
            <a:off x="411300" y="982775"/>
            <a:ext cx="28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2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Reply speaker</a:t>
            </a:r>
            <a:endParaRPr sz="20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g2016dbb35fd_1_12"/>
          <p:cNvSpPr/>
          <p:nvPr/>
        </p:nvSpPr>
        <p:spPr>
          <a:xfrm>
            <a:off x="411300" y="1543725"/>
            <a:ext cx="4718100" cy="2973000"/>
          </a:xfrm>
          <a:prstGeom prst="roundRect">
            <a:avLst>
              <a:gd name="adj" fmla="val 8456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016dbb35fd_1_12"/>
          <p:cNvSpPr txBox="1"/>
          <p:nvPr/>
        </p:nvSpPr>
        <p:spPr>
          <a:xfrm>
            <a:off x="493651" y="2706975"/>
            <a:ext cx="4553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Point out your opponent’s mistakes in logical line</a:t>
            </a:r>
            <a:b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vi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Compare and summarise to show judges what you have done better</a:t>
            </a:r>
            <a:endParaRPr sz="1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0287e6ad6_2_0"/>
          <p:cNvSpPr txBox="1"/>
          <p:nvPr/>
        </p:nvSpPr>
        <p:spPr>
          <a:xfrm>
            <a:off x="2718750" y="483566"/>
            <a:ext cx="3706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3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Conclusion </a:t>
            </a:r>
            <a:endParaRPr sz="36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761446-D70E-DB78-9EAD-2742C7EC039C}"/>
              </a:ext>
            </a:extLst>
          </p:cNvPr>
          <p:cNvSpPr txBox="1"/>
          <p:nvPr/>
        </p:nvSpPr>
        <p:spPr>
          <a:xfrm>
            <a:off x="2286000" y="1773647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A0707"/>
                </a:solidFill>
                <a:latin typeface="Lexend"/>
              </a:rPr>
              <a:t>What is debate? 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solidFill>
                <a:srgbClr val="0A0707"/>
              </a:solidFill>
              <a:effectLst/>
              <a:latin typeface="Lexend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A0707"/>
                </a:solidFill>
                <a:latin typeface="Lexend"/>
              </a:rPr>
              <a:t>Skills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dirty="0">
                <a:solidFill>
                  <a:srgbClr val="0A0707"/>
                </a:solidFill>
                <a:effectLst/>
                <a:latin typeface="Lexend"/>
              </a:rPr>
              <a:t>World School Debate Format</a:t>
            </a:r>
            <a:endParaRPr lang="en-US" sz="20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dirty="0">
                <a:solidFill>
                  <a:srgbClr val="0A0707"/>
                </a:solidFill>
                <a:latin typeface="Lexend"/>
              </a:rPr>
              <a:t>Speaker roles</a:t>
            </a:r>
            <a:br>
              <a:rPr lang="en-US" dirty="0"/>
            </a:b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873974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/>
        </p:nvSpPr>
        <p:spPr>
          <a:xfrm>
            <a:off x="3015900" y="2329650"/>
            <a:ext cx="3000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vi" sz="3600" b="1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sz="3600" b="1" i="0" u="none" strike="noStrike" cap="none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1160</Words>
  <Application>Microsoft Macintosh PowerPoint</Application>
  <PresentationFormat>On-screen Show (16:9)</PresentationFormat>
  <Paragraphs>161</Paragraphs>
  <Slides>34</Slides>
  <Notes>34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Montserrat</vt:lpstr>
      <vt:lpstr>Lexend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Gia Long</cp:lastModifiedBy>
  <cp:revision>8</cp:revision>
  <dcterms:modified xsi:type="dcterms:W3CDTF">2026-07-23T11:40:26Z</dcterms:modified>
</cp:coreProperties>
</file>